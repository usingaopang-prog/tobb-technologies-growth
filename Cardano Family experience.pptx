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37960" y="1828800"/>
            <a:ext cx="5486400" cy="512064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80960" y="2423160"/>
            <a:ext cx="4572000" cy="4297680"/>
          </a:xfrm>
          <a:prstGeom prst="ellipse">
            <a:avLst/>
          </a:prstGeom>
          <a:solidFill>
            <a:srgbClr val="218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66560" y="4206240"/>
            <a:ext cx="5303520" cy="3200400"/>
          </a:xfrm>
          <a:prstGeom prst="ellipse">
            <a:avLst/>
          </a:prstGeom>
          <a:solidFill>
            <a:srgbClr val="146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9601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9848" y="82296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25880" y="96012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9848" y="11247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128930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325880" y="128930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9848" y="143560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7512" y="11430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90472" y="11430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69848" y="66751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83080" y="512064"/>
            <a:ext cx="429768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CARDANO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1024128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50DCE6"/>
                </a:solidFill>
                <a:latin typeface="Aptos"/>
              </a:rPr>
              <a:t>FAMILY QR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267712"/>
            <a:ext cx="5669280" cy="1417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900" b="1">
                <a:solidFill>
                  <a:srgbClr val="50DCE6"/>
                </a:solidFill>
                <a:latin typeface="Aptos"/>
              </a:rPr>
              <a:t>Scan. Play.
Create.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7639"/>
            <a:ext cx="539496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 physical-to-digital growth engine
for Cardano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2331720" cy="347472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5678424"/>
            <a:ext cx="2258568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9274B"/>
                </a:solidFill>
                <a:latin typeface="Aptos"/>
              </a:rPr>
              <a:t>CREATED BY OPANG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669280"/>
            <a:ext cx="25603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30 October 2026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0" y="1920240"/>
            <a:ext cx="1874519" cy="1828800"/>
          </a:xfrm>
          <a:prstGeom prst="ellipse">
            <a:avLst/>
          </a:prstGeom>
          <a:solidFill>
            <a:srgbClr val="F5B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rc 24"/>
          <p:cNvSpPr/>
          <p:nvPr/>
        </p:nvSpPr>
        <p:spPr>
          <a:xfrm>
            <a:off x="8412480" y="1627632"/>
            <a:ext cx="2103120" cy="914400"/>
          </a:xfrm>
          <a:prstGeom prst="arc">
            <a:avLst/>
          </a:prstGeom>
          <a:solidFill>
            <a:srgbClr val="09274B"/>
          </a:solidFill>
          <a:ln w="15240">
            <a:solidFill>
              <a:srgbClr val="00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83879" y="3474720"/>
            <a:ext cx="2651760" cy="2423160"/>
          </a:xfrm>
          <a:prstGeom prst="round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55279" y="3246120"/>
            <a:ext cx="3063240" cy="566928"/>
          </a:xfrm>
          <a:prstGeom prst="round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607040" y="3291840"/>
            <a:ext cx="777240" cy="1280160"/>
          </a:xfrm>
          <a:prstGeom prst="round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680192" y="3401568"/>
            <a:ext cx="621792" cy="1042415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42832" y="2514600"/>
            <a:ext cx="182880" cy="182880"/>
          </a:xfrm>
          <a:prstGeom prst="ellipse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802368" y="2514600"/>
            <a:ext cx="182880" cy="182880"/>
          </a:xfrm>
          <a:prstGeom prst="ellipse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rc 31"/>
          <p:cNvSpPr/>
          <p:nvPr/>
        </p:nvSpPr>
        <p:spPr>
          <a:xfrm>
            <a:off x="9189720" y="2788920"/>
            <a:ext cx="640080" cy="384048"/>
          </a:xfrm>
          <a:prstGeom prst="arc">
            <a:avLst/>
          </a:prstGeom>
          <a:solidFill>
            <a:srgbClr val="C1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6080760"/>
            <a:ext cx="47548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A family-first way to experience blockchain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02/15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2578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73152" cy="160020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48737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Hard to 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67128"/>
            <a:ext cx="4873752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Cardano can feel technical, unfamiliar and “uncool” to newcomers.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578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73152" cy="160020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709928"/>
            <a:ext cx="48737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Jargon-heavy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67128"/>
            <a:ext cx="4873752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Crypto communication often leads with charts, price and terminology.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66160"/>
            <a:ext cx="52578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566160"/>
            <a:ext cx="73152" cy="1600200"/>
          </a:xfrm>
          <a:prstGeom prst="rect">
            <a:avLst/>
          </a:prstGeom>
          <a:solidFill>
            <a:srgbClr val="F5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675887"/>
            <a:ext cx="48737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No family-friendly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133087"/>
            <a:ext cx="4873752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Families may be curious but lack a safe, fun first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66160"/>
            <a:ext cx="525780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566160"/>
            <a:ext cx="73152" cy="1600200"/>
          </a:xfrm>
          <a:prstGeom prst="rect">
            <a:avLst/>
          </a:prstGeom>
          <a:solidFill>
            <a:srgbClr val="C1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675887"/>
            <a:ext cx="48737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Digital-only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133087"/>
            <a:ext cx="4873752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Online campaigns are easy to scroll past or ignore.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78992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26999"/>
                </a:solidFill>
                <a:latin typeface="Aptos"/>
              </a:rPr>
              <a:t>Opportunity: replace a complicated first impression with a simple real-world invitation.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03/15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7498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126999"/>
                </a:solidFill>
                <a:latin typeface="Aptos"/>
              </a:rPr>
              <a:t>CHILDREN PULL PARENTS IN — NOT THE OTHER WAY AROUND.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3375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73152" cy="192024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852928"/>
            <a:ext cx="295351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CHILDREN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10128"/>
            <a:ext cx="2953512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Play, explore and create something they can keep.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743200"/>
            <a:ext cx="33375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743200"/>
            <a:ext cx="73152" cy="192024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852928"/>
            <a:ext cx="295351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PARENTS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310128"/>
            <a:ext cx="2953512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Understand the experience, ask questions and assess safety.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743200"/>
            <a:ext cx="33375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73152" cy="1920240"/>
          </a:xfrm>
          <a:prstGeom prst="rect">
            <a:avLst/>
          </a:prstGeom>
          <a:solidFill>
            <a:srgbClr val="F5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852928"/>
            <a:ext cx="295351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FAMILY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310128"/>
            <a:ext cx="2953512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A shared activity creates a natural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9274B"/>
                </a:solidFill>
                <a:latin typeface="Aptos"/>
              </a:rPr>
              <a:t>The child’s excitement opens the door. The parent’s curiosity deepens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04/15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126999"/>
                </a:solidFill>
                <a:latin typeface="Aptos"/>
              </a:rPr>
              <a:t>A QR code in the real world opens a family blockchain experience.</a:t>
            </a:r>
          </a:p>
        </p:txBody>
      </p:sp>
      <p:sp>
        <p:nvSpPr>
          <p:cNvPr id="8" name="Oval 7"/>
          <p:cNvSpPr/>
          <p:nvPr/>
        </p:nvSpPr>
        <p:spPr>
          <a:xfrm>
            <a:off x="978408" y="242316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450592"/>
            <a:ext cx="68580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246120"/>
            <a:ext cx="16002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09274B"/>
                </a:solidFill>
                <a:latin typeface="Aptos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675887"/>
            <a:ext cx="178308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2364B"/>
                </a:solidFill>
                <a:latin typeface="Aptos"/>
              </a:rPr>
              <a:t>QR on a shirt, poster or event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596896"/>
            <a:ext cx="5486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0BEBE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337560" y="242316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450592"/>
            <a:ext cx="68580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46120"/>
            <a:ext cx="16002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09274B"/>
                </a:solidFill>
                <a:latin typeface="Aptos"/>
              </a:rPr>
              <a:t>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675887"/>
            <a:ext cx="178308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2364B"/>
                </a:solidFill>
                <a:latin typeface="Aptos"/>
              </a:rPr>
              <a:t>Child completes a mini-game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96896"/>
            <a:ext cx="5486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0BEBE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696712" y="242316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96712" y="2450592"/>
            <a:ext cx="68580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246120"/>
            <a:ext cx="16002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09274B"/>
                </a:solidFill>
                <a:latin typeface="Aptos"/>
              </a:rPr>
              <a:t>CREATE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3675887"/>
            <a:ext cx="178308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2364B"/>
                </a:solidFill>
                <a:latin typeface="Aptos"/>
              </a:rPr>
              <a:t>Collect fragments and mint an NFT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596896"/>
            <a:ext cx="5486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0BEBE"/>
                </a:solidFill>
                <a:latin typeface="Aptos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8055863" y="2423160"/>
            <a:ext cx="685800" cy="685800"/>
          </a:xfrm>
          <a:prstGeom prst="ellipse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55863" y="2450592"/>
            <a:ext cx="68580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3" y="3246120"/>
            <a:ext cx="16002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09274B"/>
                </a:solidFill>
                <a:latin typeface="Aptos"/>
              </a:rP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675887"/>
            <a:ext cx="178308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2364B"/>
                </a:solidFill>
                <a:latin typeface="Aptos"/>
              </a:rPr>
              <a:t>Parent gets a plain-language 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596896"/>
            <a:ext cx="5486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0BEBE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415015" y="2423160"/>
            <a:ext cx="685800" cy="685800"/>
          </a:xfrm>
          <a:prstGeom prst="ellipse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15015" y="2450592"/>
            <a:ext cx="68580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5" y="3246120"/>
            <a:ext cx="16002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09274B"/>
                </a:solidFill>
                <a:latin typeface="Aptos"/>
              </a:rPr>
              <a:t>CHOOSE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3675887"/>
            <a:ext cx="178308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22364B"/>
                </a:solidFill>
                <a:latin typeface="Aptos"/>
              </a:rPr>
              <a:t>Optional wallet and first on-chain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126999"/>
                </a:solidFill>
                <a:latin typeface="Aptos"/>
              </a:rPr>
              <a:t>One scan. One loop. Two audiences served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Where the QR Codes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05/15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835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63040"/>
            <a:ext cx="283464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T-shirts / hats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72768"/>
            <a:ext cx="1508760" cy="347472"/>
          </a:xfrm>
          <a:prstGeom prst="roundRect">
            <a:avLst/>
          </a:prstGeom>
          <a:solidFill>
            <a:srgbClr val="E7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7056" y="1581912"/>
            <a:ext cx="1435607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9274B"/>
                </a:solidFill>
                <a:latin typeface="Aptos"/>
              </a:rPr>
              <a:t>HIGH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472184"/>
            <a:ext cx="566928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2364B"/>
                </a:solidFill>
                <a:latin typeface="Aptos"/>
              </a:rPr>
              <a:t>Wearable, visible and a conversation starter.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58568"/>
            <a:ext cx="10835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304288"/>
            <a:ext cx="283464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Posters / table cards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414016"/>
            <a:ext cx="1508760" cy="347472"/>
          </a:xfrm>
          <a:prstGeom prst="roundRect">
            <a:avLst/>
          </a:prstGeom>
          <a:solidFill>
            <a:srgbClr val="E7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77056" y="2423160"/>
            <a:ext cx="1435607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9274B"/>
                </a:solidFill>
                <a:latin typeface="Aptos"/>
              </a:rPr>
              <a:t>HIGH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313432"/>
            <a:ext cx="566928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2364B"/>
                </a:solidFill>
                <a:latin typeface="Aptos"/>
              </a:rPr>
              <a:t>Static placement with enough time to scan.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99816"/>
            <a:ext cx="10835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145536"/>
            <a:ext cx="283464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Event booths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255264"/>
            <a:ext cx="1508760" cy="347472"/>
          </a:xfrm>
          <a:prstGeom prst="roundRect">
            <a:avLst/>
          </a:prstGeom>
          <a:solidFill>
            <a:srgbClr val="E7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6" y="3264408"/>
            <a:ext cx="1435607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9274B"/>
                </a:solidFill>
                <a:latin typeface="Aptos"/>
              </a:rPr>
              <a:t>HIGH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154680"/>
            <a:ext cx="566928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2364B"/>
                </a:solidFill>
                <a:latin typeface="Aptos"/>
              </a:rPr>
              <a:t>A natural place to invite people to participate.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41064"/>
            <a:ext cx="10835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986784"/>
            <a:ext cx="283464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Private-car magnets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096512"/>
            <a:ext cx="1508760" cy="347472"/>
          </a:xfrm>
          <a:prstGeom prst="roundRect">
            <a:avLst/>
          </a:prstGeom>
          <a:solidFill>
            <a:srgbClr val="E7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77056" y="4105656"/>
            <a:ext cx="1435607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9274B"/>
                </a:solidFill>
                <a:latin typeface="Aptos"/>
              </a:rPr>
              <a:t>LOW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995928"/>
            <a:ext cx="566928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2364B"/>
                </a:solidFill>
                <a:latin typeface="Aptos"/>
              </a:rPr>
              <a:t>Check insurance and lease terms; keep passive.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82312"/>
            <a:ext cx="10835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828032"/>
            <a:ext cx="283464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LED screens / large wraps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4937760"/>
            <a:ext cx="1508760" cy="347472"/>
          </a:xfrm>
          <a:prstGeom prst="roundRect">
            <a:avLst/>
          </a:prstGeom>
          <a:solidFill>
            <a:srgbClr val="F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77056" y="4946904"/>
            <a:ext cx="1435607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9274B"/>
                </a:solidFill>
                <a:latin typeface="Aptos"/>
              </a:rPr>
              <a:t>AVOID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837176"/>
            <a:ext cx="566928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2364B"/>
                </a:solidFill>
                <a:latin typeface="Aptos"/>
              </a:rPr>
              <a:t>Potential safety, distraction and enforcement risks.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5E758B"/>
                </a:solidFill>
                <a:latin typeface="Aptos"/>
              </a:rPr>
              <a:t>Pilot static placements first; confirm local advertising and road-safety requirements before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QR Code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06/15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76656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000" b="1">
                <a:solidFill>
                  <a:srgbClr val="126999"/>
                </a:solidFill>
                <a:latin typeface="Aptos"/>
              </a:rPr>
              <a:t>“SCAN ME”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676656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300" b="1">
                <a:solidFill>
                  <a:srgbClr val="09274B"/>
                </a:solidFill>
                <a:latin typeface="Aptos"/>
              </a:rPr>
              <a:t>Let your child create their first NFT —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66751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0BEBE"/>
                </a:solidFill>
                <a:latin typeface="Aptos"/>
              </a:rPr>
              <a:t>Short. Concrete. Action-linked.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667512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Avoid long, abstract slogans at the point of scan. Save the bigger brand message for the landing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24688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9274B"/>
                </a:solidFill>
                <a:latin typeface="Aptos"/>
              </a:rPr>
              <a:t>SCAN 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832" y="2286000"/>
            <a:ext cx="109728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9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59" y="2395728"/>
            <a:ext cx="307238" cy="307238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18396" y="2461564"/>
            <a:ext cx="175564" cy="175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62288" y="2505456"/>
            <a:ext cx="87782" cy="87782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23145" y="2395728"/>
            <a:ext cx="307238" cy="307238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88982" y="2461564"/>
            <a:ext cx="175564" cy="175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732873" y="2505456"/>
            <a:ext cx="87782" cy="87782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59" y="2966313"/>
            <a:ext cx="307238" cy="307238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18396" y="3032150"/>
            <a:ext cx="175564" cy="175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62288" y="3076041"/>
            <a:ext cx="87782" cy="87782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69526" y="2812694"/>
            <a:ext cx="98755" cy="98755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67036" y="2812694"/>
            <a:ext cx="98755" cy="98755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69526" y="3032150"/>
            <a:ext cx="98755" cy="98755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15907" y="2812694"/>
            <a:ext cx="98755" cy="98755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88982" y="3076041"/>
            <a:ext cx="98755" cy="98755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03689" y="3185769"/>
            <a:ext cx="98755" cy="98755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3703320"/>
            <a:ext cx="210312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26999"/>
                </a:solidFill>
                <a:latin typeface="Aptos"/>
              </a:rPr>
              <a:t>Create • Play
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Landing Page: Two Doors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07/15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07492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73152" cy="356616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18488"/>
            <a:ext cx="46908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CHILDREN’S DOOR  ·  AGES 6–14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75688"/>
            <a:ext cx="4690872" cy="29077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1. Open the browser game
2. Collect digital fragments
3. Complete the creation activity
4. With parent/guardian support, receive the participation NFT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356616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618488"/>
            <a:ext cx="46908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PARENTS’ DOOR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75688"/>
            <a:ext cx="4690872" cy="29077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1. Watch a 90-second explainer
2. Understand what was created
3. Review privacy, wallet and safety information
4. Choose whether to continue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09274B"/>
                </a:solidFill>
                <a:latin typeface="Aptos"/>
              </a:rPr>
              <a:t>No dense information page. Two clear paths, with the parent involved throughout.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Child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08/15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280160" cy="2377440"/>
          </a:xfrm>
          <a:prstGeom prst="round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5256" y="1975104"/>
            <a:ext cx="1115568" cy="2084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4128" y="2194560"/>
            <a:ext cx="877824" cy="118872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24128" y="2450592"/>
            <a:ext cx="877824" cy="18288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" y="2743200"/>
            <a:ext cx="877824" cy="18288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3035808"/>
            <a:ext cx="877824" cy="182880"/>
          </a:xfrm>
          <a:prstGeom prst="round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26464" y="4096511"/>
            <a:ext cx="73152" cy="73152"/>
          </a:xfrm>
          <a:prstGeom prst="ellipse">
            <a:avLst/>
          </a:prstGeom>
          <a:solidFill>
            <a:srgbClr val="5E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51760" y="1508760"/>
            <a:ext cx="3977639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1508760"/>
            <a:ext cx="73152" cy="160020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52928" y="1618488"/>
            <a:ext cx="3593591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075688"/>
            <a:ext cx="3593591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A browser-based mini-game; no download.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508760"/>
            <a:ext cx="3977639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1508760"/>
            <a:ext cx="73152" cy="160020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87768" y="1618488"/>
            <a:ext cx="3593591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COLLECT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2075688"/>
            <a:ext cx="3593591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Find fragments and complete simple challenges.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3566160"/>
            <a:ext cx="3977639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566160"/>
            <a:ext cx="73152" cy="1600200"/>
          </a:xfrm>
          <a:prstGeom prst="rect">
            <a:avLst/>
          </a:prstGeom>
          <a:solidFill>
            <a:srgbClr val="F5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2928" y="3675887"/>
            <a:ext cx="3593591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CREATE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4133087"/>
            <a:ext cx="3593591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Combine fragments into a digital collectible.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566160"/>
            <a:ext cx="3977639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600" y="3566160"/>
            <a:ext cx="73152" cy="1600200"/>
          </a:xfrm>
          <a:prstGeom prst="rect">
            <a:avLst/>
          </a:prstGeom>
          <a:solidFill>
            <a:srgbClr val="26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87768" y="3675887"/>
            <a:ext cx="3593591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CELEBRATE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4133087"/>
            <a:ext cx="3593591" cy="9418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Show a participation NFT, not a speculative asset.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715000"/>
            <a:ext cx="82296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5E758B"/>
                </a:solidFill>
                <a:latin typeface="Aptos"/>
              </a:rPr>
              <a:t>Use age-appropriate design and parent/guardian consent for children.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The Parent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09/15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214884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30906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1 ·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67128"/>
            <a:ext cx="3090672" cy="1490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A short, plain-language explanation of what happened.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73152" cy="214884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09928"/>
            <a:ext cx="30906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2 · 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090672" cy="1490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Optional wallet creation, with clear safety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2148840"/>
          </a:xfrm>
          <a:prstGeom prst="rect">
            <a:avLst/>
          </a:prstGeom>
          <a:solidFill>
            <a:srgbClr val="F5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09928"/>
            <a:ext cx="30906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3 ·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67128"/>
            <a:ext cx="3090672" cy="1490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2364B"/>
                </a:solidFill>
                <a:latin typeface="Aptos"/>
              </a:rPr>
              <a:t>If appropriate, use a small amount of ADA for a first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09274B"/>
                </a:solidFill>
                <a:latin typeface="Aptos"/>
              </a:rPr>
              <a:t>Education first. Investment never promised.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60"/>
            <a:ext cx="996696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5E758B"/>
                </a:solidFill>
                <a:latin typeface="Aptos"/>
              </a:rPr>
              <a:t>Any wallet, token transfer or on-chain action should be optional and parent-led.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Compliance &amp;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10/15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120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874519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618488"/>
            <a:ext cx="482803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SOUTH AFRICAN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828032" cy="121615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Crypto-asset financial services may trigger FAIS / FSCA requirements. Obtain specialist review before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120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87451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618488"/>
            <a:ext cx="482803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09274B"/>
                </a:solidFill>
                <a:latin typeface="Aptos"/>
              </a:rPr>
              <a:t>ADVERTISING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75688"/>
            <a:ext cx="4828032" cy="121615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Avoid misleading claims, return promises or language that exploits inexperience. Review against applicable ARB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6916E"/>
                </a:solidFill>
                <a:latin typeface="Aptos"/>
              </a:rPr>
              <a:t>PREFERRED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512064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9274B"/>
                </a:solidFill>
                <a:latin typeface="Aptos"/>
              </a:rPr>
              <a:t>LEARN  ·  CREATE  ·  EXPERIENCE  ·  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94760"/>
            <a:ext cx="52120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C14C4C"/>
                </a:solidFill>
                <a:latin typeface="Aptos"/>
              </a:rPr>
              <a:t>AVOID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251960"/>
            <a:ext cx="521208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9274B"/>
                </a:solidFill>
                <a:latin typeface="Aptos"/>
              </a:rPr>
              <a:t>EARN  ·  RETURNS  ·  EASY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5E758B"/>
                </a:solidFill>
                <a:latin typeface="Aptos"/>
              </a:rPr>
              <a:t>Include clear risk information, privacy disclosures and parent/guardian safeguards.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How We Measure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11/15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237744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21305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09274B"/>
                </a:solidFill>
                <a:latin typeface="Aptos"/>
              </a:rPr>
              <a:t>GAME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130552" cy="1719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Share of players who finish the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5146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73152" cy="237744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7328" y="1938528"/>
            <a:ext cx="21305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09274B"/>
                </a:solidFill>
                <a:latin typeface="Aptos"/>
              </a:rPr>
              <a:t>NFT MINT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395728"/>
            <a:ext cx="2130552" cy="1719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Share of finishers who complete the mint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25146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828800"/>
            <a:ext cx="73152" cy="2377440"/>
          </a:xfrm>
          <a:prstGeom prst="rect">
            <a:avLst/>
          </a:prstGeom>
          <a:solidFill>
            <a:srgbClr val="F5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1938528"/>
            <a:ext cx="21305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09274B"/>
                </a:solidFill>
                <a:latin typeface="Aptos"/>
              </a:rPr>
              <a:t>PARENT-PATH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2395728"/>
            <a:ext cx="2130552" cy="1719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Share of families who open the explainer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828800"/>
            <a:ext cx="251460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73152" cy="2377440"/>
          </a:xfrm>
          <a:prstGeom prst="rect">
            <a:avLst/>
          </a:prstGeom>
          <a:solidFill>
            <a:srgbClr val="2691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28048" y="1938528"/>
            <a:ext cx="213055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09274B"/>
                </a:solidFill>
                <a:latin typeface="Aptos"/>
              </a:rPr>
              <a:t>WALLET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395728"/>
            <a:ext cx="2130552" cy="1719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22364B"/>
                </a:solidFill>
                <a:latin typeface="Aptos"/>
              </a:rPr>
              <a:t>Optional parent-led wallet creation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9274B"/>
                </a:solidFill>
                <a:latin typeface="Aptos"/>
              </a:rPr>
              <a:t>Track the funnel — not scan counts or follower totals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First 4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12/15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508760"/>
            <a:ext cx="566928" cy="5669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566928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17320"/>
            <a:ext cx="15087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26999"/>
                </a:solidFill>
                <a:latin typeface="Aptos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512064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Choose the H5 mini-game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417320"/>
            <a:ext cx="251460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26916E"/>
                </a:solidFill>
                <a:latin typeface="Aptos"/>
              </a:rPr>
              <a:t>Prototype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2039112"/>
            <a:ext cx="73152" cy="393192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532888"/>
            <a:ext cx="566928" cy="5669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551176"/>
            <a:ext cx="566928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441448"/>
            <a:ext cx="15087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26999"/>
                </a:solidFill>
                <a:latin typeface="Aptos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441448"/>
            <a:ext cx="512064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Connect NFT minting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441448"/>
            <a:ext cx="251460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26916E"/>
                </a:solidFill>
                <a:latin typeface="Aptos"/>
              </a:rPr>
              <a:t>Testnet working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3063240"/>
            <a:ext cx="73152" cy="393192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" y="3557016"/>
            <a:ext cx="566928" cy="5669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75304"/>
            <a:ext cx="566928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465576"/>
            <a:ext cx="15087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26999"/>
                </a:solidFill>
                <a:latin typeface="Aptos"/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465576"/>
            <a:ext cx="512064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Build parent page and complete compliance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465576"/>
            <a:ext cx="251460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26916E"/>
                </a:solidFill>
                <a:latin typeface="Aptos"/>
              </a:rPr>
              <a:t>Landing page ready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" y="4087368"/>
            <a:ext cx="73152" cy="393192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4581144"/>
            <a:ext cx="566928" cy="566928"/>
          </a:xfrm>
          <a:prstGeom prst="ellipse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599432"/>
            <a:ext cx="566928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489704"/>
            <a:ext cx="150876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26999"/>
                </a:solidFill>
                <a:latin typeface="Aptos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489704"/>
            <a:ext cx="512064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09274B"/>
                </a:solidFill>
                <a:latin typeface="Aptos"/>
              </a:rPr>
              <a:t>Deploy 20 QR shirts/stickers at 2–3 pilot 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489704"/>
            <a:ext cx="251460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26916E"/>
                </a:solidFill>
                <a:latin typeface="Aptos"/>
              </a:rPr>
              <a:t>First completion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00BEBE"/>
                </a:solidFill>
                <a:latin typeface="Aptos"/>
              </a:rPr>
              <a:t>Pilot small, learn quickly, then scale what 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92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34440" cy="4572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>
                <a:solidFill>
                  <a:srgbClr val="5E758B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700" b="1">
                <a:solidFill>
                  <a:srgbClr val="09274B"/>
                </a:solidFill>
                <a:latin typeface="Aptos"/>
              </a:rPr>
              <a:t>Why This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556248"/>
            <a:ext cx="242316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5E758B"/>
                </a:solidFill>
                <a:latin typeface="Aptos"/>
              </a:rPr>
              <a:t>CREATED BY OPANG  ·  13/15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728216"/>
            <a:ext cx="109728" cy="1097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554480"/>
            <a:ext cx="10168128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000" b="0">
                <a:solidFill>
                  <a:srgbClr val="22364B"/>
                </a:solidFill>
                <a:latin typeface="Aptos"/>
              </a:rPr>
              <a:t>Physical hook creates curiosity and invites real interaction.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642616"/>
            <a:ext cx="109728" cy="1097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68880"/>
            <a:ext cx="10168128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000" b="0">
                <a:solidFill>
                  <a:srgbClr val="22364B"/>
                </a:solidFill>
                <a:latin typeface="Aptos"/>
              </a:rPr>
              <a:t>Child engagement creates the initial spark; parent learning adds depth.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557016"/>
            <a:ext cx="109728" cy="1097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3383280"/>
            <a:ext cx="10168128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000" b="0">
                <a:solidFill>
                  <a:srgbClr val="22364B"/>
                </a:solidFill>
                <a:latin typeface="Aptos"/>
              </a:rPr>
              <a:t>ADA is a way to experience the network, not the selling point.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471416"/>
            <a:ext cx="109728" cy="109728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4297680"/>
            <a:ext cx="10168128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000" b="0">
                <a:solidFill>
                  <a:srgbClr val="22364B"/>
                </a:solidFill>
                <a:latin typeface="Aptos"/>
              </a:rPr>
              <a:t>An education-first design can build trust and longer-term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86400"/>
            <a:ext cx="10287000" cy="502920"/>
          </a:xfrm>
          <a:prstGeom prst="roundRect">
            <a:avLst/>
          </a:prstGeom>
          <a:solidFill>
            <a:srgbClr val="E7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513832"/>
            <a:ext cx="1001268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26999"/>
                </a:solidFill>
                <a:latin typeface="Aptos"/>
              </a:rPr>
              <a:t>A family experience that happens to run on Cardano.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50DCE6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Ask /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48920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73152" cy="2377440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075688"/>
            <a:ext cx="450799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WHAT WE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32888"/>
            <a:ext cx="4507992" cy="1719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2364B"/>
                </a:solidFill>
                <a:latin typeface="Aptos"/>
              </a:rPr>
              <a:t>A pilot partner, 2–3 pilot locations, and support to build and test the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65960"/>
            <a:ext cx="48920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73152" cy="2377440"/>
          </a:xfrm>
          <a:prstGeom prst="rect">
            <a:avLst/>
          </a:prstGeom>
          <a:solidFill>
            <a:srgbClr val="12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2075688"/>
            <a:ext cx="450799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800" b="1">
                <a:solidFill>
                  <a:srgbClr val="09274B"/>
                </a:solidFill>
                <a:latin typeface="Aptos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532888"/>
            <a:ext cx="4507992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 dirty="0">
                <a:solidFill>
                  <a:srgbClr val="22364B"/>
                </a:solidFill>
                <a:latin typeface="Aptos"/>
              </a:rPr>
              <a:t>Opang
</a:t>
            </a:r>
            <a:r>
              <a:rPr sz="1600" b="0" dirty="0" smtClean="0">
                <a:solidFill>
                  <a:srgbClr val="22364B"/>
                </a:solidFill>
                <a:latin typeface="Aptos"/>
              </a:rPr>
              <a:t>[</a:t>
            </a:r>
            <a:r>
              <a:rPr lang="en-US" sz="1600" dirty="0" smtClean="0">
                <a:solidFill>
                  <a:srgbClr val="22364B"/>
                </a:solidFill>
                <a:latin typeface="Aptos"/>
              </a:rPr>
              <a:t>usingaopang@gmail.com</a:t>
            </a:r>
            <a:r>
              <a:rPr sz="1600" b="0" dirty="0" smtClean="0">
                <a:solidFill>
                  <a:srgbClr val="22364B"/>
                </a:solidFill>
                <a:latin typeface="Aptos"/>
              </a:rPr>
              <a:t>]</a:t>
            </a:r>
            <a:r>
              <a:rPr sz="1600" b="0" dirty="0">
                <a:solidFill>
                  <a:srgbClr val="22364B"/>
                </a:solidFill>
                <a:latin typeface="Aptos"/>
              </a:rPr>
              <a:t>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50DCE6"/>
                </a:solidFill>
                <a:latin typeface="Aptos"/>
              </a:rPr>
              <a:t>Let’s run the four-week pilot and measure real engagement.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6556248"/>
            <a:ext cx="256032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CREATED BY OPANG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dano (blockchain platform) - Wikipedia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0296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548640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50DCE6"/>
                </a:solidFill>
                <a:latin typeface="Aptos"/>
              </a:rPr>
              <a:t>CARDANO FAMILY QR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4200" b="1">
                <a:solidFill>
                  <a:srgbClr val="50DCE6"/>
                </a:solidFill>
                <a:latin typeface="Aptos"/>
              </a:rPr>
              <a:t>SCAN. PLAY. CREATE.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500" b="0">
                <a:solidFill>
                  <a:srgbClr val="FFFFFF"/>
                </a:solidFill>
                <a:latin typeface="Aptos"/>
              </a:rPr>
              <a:t>Cardano, changing the world — one family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Created by Opang  ·  30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6556248"/>
            <a:ext cx="2560320" cy="1463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935</Words>
  <Application>Microsoft Office PowerPoint</Application>
  <PresentationFormat>Widescreen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Peter</cp:lastModifiedBy>
  <cp:revision>3</cp:revision>
  <dcterms:created xsi:type="dcterms:W3CDTF">2013-01-27T09:14:16Z</dcterms:created>
  <dcterms:modified xsi:type="dcterms:W3CDTF">2026-10-30T10:12:18Z</dcterms:modified>
  <cp:category/>
</cp:coreProperties>
</file>